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7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5F7FA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F5F7FA"/>
                </a:solidFill>
                <a:latin typeface="Arial"/>
              </a:rPr>
              <a:t>Test Accuracy by Model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4F8CFF">
                <a:alpha val="100000"/>
              </a:srgbClr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5F7F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75.040000000000006</c:v>
                </c:pt>
                <c:pt idx="1">
                  <c:v>99.1</c:v>
                </c:pt>
                <c:pt idx="2">
                  <c:v>96.26</c:v>
                </c:pt>
                <c:pt idx="3">
                  <c:v>99.88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71-46F5-81BD-6C45A658DF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2314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2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0A112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11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9480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6400800" cy="6400800"/>
          </a:xfrm>
          <a:prstGeom prst="ellipse">
            <a:avLst/>
          </a:prstGeom>
          <a:solidFill>
            <a:srgbClr val="4F8C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8B7CF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17320"/>
            <a:ext cx="777240" cy="777240"/>
          </a:xfrm>
          <a:prstGeom prst="ellipse">
            <a:avLst/>
          </a:prstGeom>
          <a:solidFill>
            <a:srgbClr val="4F8CF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icon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9" y="151058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5146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AI-Based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 Risk Prediction System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42062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Machine Learning Application using XGBoost, SHAP, FastAPI &amp; Streamlit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4937760"/>
            <a:ext cx="2926080" cy="0"/>
          </a:xfrm>
          <a:prstGeom prst="line">
            <a:avLst/>
          </a:prstGeom>
          <a:noFill/>
          <a:ln w="19050">
            <a:solidFill>
              <a:srgbClr val="2231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074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Momin Sohail Amir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54589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 •  Digital Ipsum Pvt. Ltd.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058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2400"/>
              </a:spcAft>
              <a:buSzPct val="100000"/>
              <a:buChar char="▪"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health conditions are widespread but frequently under-diagnosed and under-reported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2400"/>
              </a:spcAft>
              <a:buSzPct val="100000"/>
              <a:buChar char="▪"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screening relies on manual clinical assessment — slow, subjective, and not scalable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2400"/>
              </a:spcAft>
              <a:buSzPct val="100000"/>
              <a:buChar char="▪"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risk signals often exist in everyday lifestyle and behavioural data, but go unused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2400"/>
              </a:spcAft>
              <a:buSzPct val="100000"/>
              <a:buChar char="▪"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gap exists for accessible, data-driven tools that flag risk early — without replacing clinical judgment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2400"/>
              </a:spcAft>
              <a:buSzPct val="100000"/>
              <a:buChar char="▪"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automated tool must be transparent: a “black box” prediction is not trustworthy in a health context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— DEPRESSION RISK PREDICTION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058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mental health risk into Low, Moderate, or High categories using lifestyle, psychological, and work-related indicators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SHAP so every prediction is interpretable — the model should be accurate and understandable, not a black box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a working product — a FastAPI backend and Streamlit frontend — rather than leaving the model in a notebook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— DEPRESSION RISK PREDICTION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394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25,000 records × 25 features — demographic, lifestyle, psychological &amp; work-related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variable: mental_health_risk (Low / Moderate / High)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dataset — zero missing values, zero duplicates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Synthetically generated data, disclosed upfront for evaluation transparency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Categories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2578608" cy="868680"/>
          </a:xfrm>
          <a:prstGeom prst="roundRect">
            <a:avLst>
              <a:gd name="adj" fmla="val 7368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4800600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5129784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age, gender, marital status, education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56432" y="4709160"/>
            <a:ext cx="2578608" cy="868680"/>
          </a:xfrm>
          <a:prstGeom prst="roundRect">
            <a:avLst>
              <a:gd name="adj" fmla="val 7368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1024" y="4800600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21024" y="5129784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sleep, activity, screen time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5760720"/>
            <a:ext cx="2578608" cy="868680"/>
          </a:xfrm>
          <a:prstGeom prst="roundRect">
            <a:avLst>
              <a:gd name="adj" fmla="val 7368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5852160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Psychological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" y="6181344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anxiety, stress, mood, panic history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56432" y="5760720"/>
            <a:ext cx="2578608" cy="868680"/>
          </a:xfrm>
          <a:prstGeom prst="roundRect">
            <a:avLst>
              <a:gd name="adj" fmla="val 7368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21024" y="5852160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&amp; Financial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21024" y="6181344"/>
            <a:ext cx="2249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stress, satisfaction, working hours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55080" y="16916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Class Distribution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205740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167128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6C7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37.4%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355080" y="289864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kern="0" spc="5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RISK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0" y="205740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2167128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47.3%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8229600" y="289864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kern="0" spc="5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RISK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104120" y="205740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04120" y="2167128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15.3%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10104120" y="289864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kern="0" spc="5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55080" y="3703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kern="0" spc="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Split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55080" y="4023360"/>
            <a:ext cx="2017715" cy="502920"/>
          </a:xfrm>
          <a:prstGeom prst="rect">
            <a:avLst/>
          </a:prstGeom>
          <a:solidFill>
            <a:srgbClr val="36C7C0"/>
          </a:solidFill>
          <a:ln/>
        </p:spPr>
      </p:sp>
      <p:sp>
        <p:nvSpPr>
          <p:cNvPr id="30" name="Shape 28"/>
          <p:cNvSpPr/>
          <p:nvPr/>
        </p:nvSpPr>
        <p:spPr>
          <a:xfrm>
            <a:off x="8372795" y="4023360"/>
            <a:ext cx="2551816" cy="50292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24611" y="4023360"/>
            <a:ext cx="825429" cy="502920"/>
          </a:xfrm>
          <a:prstGeom prst="rect">
            <a:avLst/>
          </a:prstGeom>
          <a:solidFill>
            <a:srgbClr val="8B7CF6"/>
          </a:solidFill>
          <a:ln/>
        </p:spPr>
      </p:sp>
      <p:sp>
        <p:nvSpPr>
          <p:cNvPr id="32" name="Shape 30"/>
          <p:cNvSpPr/>
          <p:nvPr/>
        </p:nvSpPr>
        <p:spPr>
          <a:xfrm>
            <a:off x="6355080" y="48006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49834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class imbalance is present — High Risk makes up only 15.3% of records. This is addressed later through weighted precision/recall/F1 rather than accuracy alone.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— DEPRESSION RISK PREDICTION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— Feature Distributions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114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features show mostly uniform spread — expected given synthetic generation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Boxplot analysis found no significant outliers requiring treatment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indicators (panic history, substance use, etc.) validated as clean 0/1 values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 minimal cleaning required before modeling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965192" y="1307592"/>
            <a:ext cx="3465576" cy="3831336"/>
          </a:xfrm>
          <a:prstGeom prst="roundRect">
            <a:avLst>
              <a:gd name="adj" fmla="val 2111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  <a:effectLst>
            <a:outerShdw blurRad="177800" dist="508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6" name="Image 0" descr="/home/claude/nb_images/cell_18_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4920" y="1417320"/>
            <a:ext cx="3246120" cy="3611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74920" y="513892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Distribution of numerical features (notebook output)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577072" y="2039112"/>
            <a:ext cx="3099816" cy="2368296"/>
          </a:xfrm>
          <a:prstGeom prst="roundRect">
            <a:avLst>
              <a:gd name="adj" fmla="val 3089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  <a:effectLst>
            <a:outerShdw blurRad="177800" dist="508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9" name="Image 1" descr="/home/claude/nb_images/cell_24_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86800" y="2148840"/>
            <a:ext cx="2880360" cy="21488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0" y="44348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Target class distribution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— DEPRESSION RISK PREDICTION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— Correlation with Target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30352" y="1581912"/>
            <a:ext cx="6163056" cy="4517136"/>
          </a:xfrm>
          <a:prstGeom prst="roundRect">
            <a:avLst>
              <a:gd name="adj" fmla="val 1619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  <a:effectLst>
            <a:outerShdw blurRad="177800" dist="508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5" name="Image 0" descr="/home/claude/nb_images/cell_30_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691640"/>
            <a:ext cx="5943600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0533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Correlation heatmap across numerical features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903720" y="178308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Positively correlated with risk: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stress, financial stress, screen time, anxiety &amp; depression scores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Negatively correlated with risk: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hours, social support, job satisfaction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early signals are later confirmed by SHAP — a strong internal consistency check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903720" y="4526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Correlations with Risk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903720" y="4864608"/>
            <a:ext cx="2212848" cy="658368"/>
          </a:xfrm>
          <a:prstGeom prst="roundRect">
            <a:avLst>
              <a:gd name="adj" fmla="val 8333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0" y="493776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Panic Attack History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40880" y="5184648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+0.42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354312" y="4864608"/>
            <a:ext cx="2212848" cy="658368"/>
          </a:xfrm>
          <a:prstGeom prst="roundRect">
            <a:avLst>
              <a:gd name="adj" fmla="val 8333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91472" y="493776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 Score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491472" y="5184648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+0.32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903720" y="5669280"/>
            <a:ext cx="2212848" cy="658368"/>
          </a:xfrm>
          <a:prstGeom prst="roundRect">
            <a:avLst>
              <a:gd name="adj" fmla="val 8333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0880" y="574243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 Score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040880" y="598932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+0.32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354312" y="5669280"/>
            <a:ext cx="2212848" cy="658368"/>
          </a:xfrm>
          <a:prstGeom prst="roundRect">
            <a:avLst>
              <a:gd name="adj" fmla="val 8333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91472" y="574243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Hours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491472" y="598932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−0.31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— DEPRESSION RISK PREDICTION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80 / 20 train-test split to preserve class ratios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features → StandardScaler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 features → OneHotEncoder (unknown categories handled safely)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features → passed through unchanged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steps wrapped in a single scikit-learn / imbalanced-learn Pipeline object — reused identically at inference time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0" y="1874520"/>
            <a:ext cx="2331720" cy="749808"/>
          </a:xfrm>
          <a:prstGeom prst="roundRect">
            <a:avLst>
              <a:gd name="adj" fmla="val 10976"/>
            </a:avLst>
          </a:prstGeom>
          <a:solidFill>
            <a:srgbClr val="121C31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63640" y="1929384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Input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63640" y="231343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features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09460" y="26334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F8CFF"/>
                </a:solidFill>
              </a:rPr>
              <a:t>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2825496"/>
            <a:ext cx="2331720" cy="749808"/>
          </a:xfrm>
          <a:prstGeom prst="roundRect">
            <a:avLst>
              <a:gd name="adj" fmla="val 10976"/>
            </a:avLst>
          </a:prstGeom>
          <a:solidFill>
            <a:srgbClr val="121C31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28803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63640" y="326440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+ Encode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09460" y="358444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F8CFF"/>
                </a:solidFill>
              </a:rPr>
              <a:t>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776472"/>
            <a:ext cx="2331720" cy="749808"/>
          </a:xfrm>
          <a:prstGeom prst="roundRect">
            <a:avLst>
              <a:gd name="adj" fmla="val 10976"/>
            </a:avLst>
          </a:prstGeom>
          <a:solidFill>
            <a:srgbClr val="1B2A4A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383133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63640" y="421538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Preprocessor + Model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09460" y="453542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F8CFF"/>
                </a:solidFill>
              </a:rPr>
              <a:t>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4727448"/>
            <a:ext cx="2331720" cy="749808"/>
          </a:xfrm>
          <a:prstGeom prst="roundRect">
            <a:avLst>
              <a:gd name="adj" fmla="val 10976"/>
            </a:avLst>
          </a:prstGeom>
          <a:solidFill>
            <a:srgbClr val="121C31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478231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63640" y="51663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train/serve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— DEPRESSION RISK PREDICTION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Building — Algorithms Compared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10058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▪"/>
            </a:pP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algorithms trained on the identical preprocessing pipeline &amp; split for a fair comparison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▪"/>
            </a:pP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— linear baseline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▪"/>
            </a:pP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— simple non-linear benchmark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▪"/>
            </a:pP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— ensemble of trees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▪"/>
            </a:pP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— gradient-boosted ensemble, industry standard for tabular data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▪"/>
            </a:pP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on Accuracy, Precision, Recall &amp; F1 (weighted) to account for class imbalance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— DEPRESSION RISK PREDICTION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 Results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91640"/>
          <a:ext cx="6400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1920240"/>
            <a:ext cx="4297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wins on every metric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99.88% accuracy, 0.9988 weighted F1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cross-validation confirms stability: 99.86% ± 0.05%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underfits — non-linear feature interactions are essential here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selected for hyperparameter tuning &amp; deployment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— DEPRESSION RISK PREDICTION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OPTIMIZATION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035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RandomizedSearchCV: 20 candidate combinations × 5-fold CV = 100 model fits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space: n_estimators, max_depth, learning_rate, subsample, colsample_bytree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 over GridSearchCV for a broad search at a fraction of the compute cost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Parameters Found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069080"/>
          <a:ext cx="6035040" cy="192024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93A2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n_estimators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F7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93A2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max_depth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F7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93A2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learning_rate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F7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93A2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subsample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F7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93A2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colsample_bytree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5F7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0" y="1828800"/>
            <a:ext cx="4297680" cy="1371600"/>
          </a:xfrm>
          <a:prstGeom prst="roundRect">
            <a:avLst>
              <a:gd name="adj" fmla="val 5333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0" y="193852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6C7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0.9971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315200" y="267004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kern="0" spc="5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CROSS-VALIDATION ACCURACY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315200" y="3429000"/>
            <a:ext cx="4297680" cy="1371600"/>
          </a:xfrm>
          <a:prstGeom prst="roundRect">
            <a:avLst>
              <a:gd name="adj" fmla="val 5333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</p:spPr>
      </p:sp>
      <p:sp>
        <p:nvSpPr>
          <p:cNvPr id="6" name="Text 8"/>
          <p:cNvSpPr/>
          <p:nvPr/>
        </p:nvSpPr>
        <p:spPr>
          <a:xfrm>
            <a:off x="7315200" y="353872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0.9988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315200" y="427024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kern="0" spc="5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TEST ACCURACY (TUNED MODEL)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— DEPRESSION RISK PREDICTION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OPTIMIZATION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Model Performance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4708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99.88%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5786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kern="0" spc="5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84708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6C7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37560" y="25786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kern="0" spc="5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(WTD)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7373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84708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6C7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035040" y="25786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kern="0" spc="5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(WTD)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32520" y="17373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1847088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6C7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732520" y="257860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kern="0" spc="5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 (WTD)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Per-class performance (test set, n = 5000)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Risk — precision 1.00, recall 1.00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Risk — precision 1.00, recall 1.00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 — precision 1.00, recall 0.99 (hardest class — smallest, 15.3% of data)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355080" y="338328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121C31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3611880"/>
            <a:ext cx="594360" cy="594360"/>
          </a:xfrm>
          <a:prstGeom prst="ellipse">
            <a:avLst/>
          </a:prstGeom>
          <a:solidFill>
            <a:srgbClr val="8B7CF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9" name="Image 0" descr="/home/claude/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003" y="3683203"/>
            <a:ext cx="451714" cy="45171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315200" y="36393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Numbers Honestly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583680" y="425196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Near-perfect accuracy reflects the clean, synthetic nature of the dataset — not a claim of real-world generalization. Deployment on real clinical data would need re-validation.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— DEPRESSION RISK PREDICTION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EXPLAINABILITY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— Global View (SHAP)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30352" y="1581912"/>
            <a:ext cx="4379976" cy="4517136"/>
          </a:xfrm>
          <a:prstGeom prst="roundRect">
            <a:avLst>
              <a:gd name="adj" fmla="val 1670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  <a:effectLst>
            <a:outerShdw blurRad="177800" dist="508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5" name="Image 0" descr="/home/claude/nb_images/cell_69_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691640"/>
            <a:ext cx="4160520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05332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SHAP summary plot (test set)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212080" y="1828800"/>
            <a:ext cx="6355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shap.TreeExplainer on the tuned XGBoost model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drivers: Panic Attack History, Anxiety Score, Depression Score, Sleep Hours, Financial Stress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impact: Therapy History, Previous Diagnosis, Age, Gender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the model relies on psychological &amp; lifestyle signals — not demographic bias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— DEPRESSION RISK PREDICTION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EXPLAINABILITY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— Individual Prediction (SHAP)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764792"/>
            <a:ext cx="7717536" cy="3877056"/>
          </a:xfrm>
          <a:prstGeom prst="roundRect">
            <a:avLst>
              <a:gd name="adj" fmla="val 1887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  <a:effectLst>
            <a:outerShdw blurRad="177800" dist="508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5" name="Image 0" descr="/home/claude/nb_images/cell_72_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874520"/>
            <a:ext cx="749808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6235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SHAP waterfall plot for a single test instance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595360" y="2103120"/>
            <a:ext cx="3017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3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exactly how each feature pushed one prediction toward its risk class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3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 the “Key Factors” explanation returned to end users, not just an internal diagnostic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3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trust — every result is traceable to specific inputs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— DEPRESSION RISK PREDICTION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2606040"/>
            <a:ext cx="914400" cy="914400"/>
          </a:xfrm>
          <a:prstGeom prst="ellipse">
            <a:avLst/>
          </a:prstGeom>
          <a:solidFill>
            <a:srgbClr val="4F8CF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icon_win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688" y="2715768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6576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51560" y="4160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questionnaire UI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160520" y="32461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F8CFF"/>
                </a:solidFill>
              </a:rPr>
              <a:t>▶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709160" y="228600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2606040"/>
            <a:ext cx="914400" cy="914400"/>
          </a:xfrm>
          <a:prstGeom prst="ellipse">
            <a:avLst/>
          </a:prstGeom>
          <a:solidFill>
            <a:srgbClr val="4F8CF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2" name="Image 1" descr="/home/claude/icon_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2715768"/>
            <a:ext cx="694944" cy="6949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2040" y="36576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937760" y="4160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/predict endpoint (REST)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046720" y="32461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F8CFF"/>
                </a:solidFill>
              </a:rPr>
              <a:t>▶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8595360" y="228600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738360" y="2606040"/>
            <a:ext cx="914400" cy="914400"/>
          </a:xfrm>
          <a:prstGeom prst="ellipse">
            <a:avLst/>
          </a:prstGeom>
          <a:solidFill>
            <a:srgbClr val="4F8CF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8" name="Image 2" descr="/home/claude/icon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8088" y="2715768"/>
            <a:ext cx="694944" cy="6949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78240" y="36576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Pipeline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SHAP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8823960" y="4160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model, feature names, risk map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22960" y="49377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completes questionnaire in Streamlit → payload sent to FastAPI → model + SHAP run server-side → prediction, confidence &amp; key factors returned → rendered back in Streamlit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— DEPRESSION RISK PREDICTION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with interactive Swagger / OpenAPI documentation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/predict accepts all 25 raw questionnaire inputs as JSON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prediction, confidence %, plain-language summary, and top contributing SHAP features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is computed live, per request — not pre-cached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62472" y="1581912"/>
            <a:ext cx="5568696" cy="4471416"/>
          </a:xfrm>
          <a:prstGeom prst="roundRect">
            <a:avLst>
              <a:gd name="adj" fmla="val 1636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  <a:effectLst>
            <a:outerShdw blurRad="177800" dist="508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6" name="Image 0" descr="/home/claude/Swagger-2_cr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72200" y="1691640"/>
            <a:ext cx="5349240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72200" y="6007608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/predict request &amp; JSON response (Swagger UI)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— DEPRESSION RISK PREDICTION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Frontend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introduces the tool and sets expectations (2–3 min, AI + Explainable AI)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questionnaire across 6 sections with a progress indicator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page shows predicted risk, confidence %, and top contributing factors in plain language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30352" y="3410712"/>
            <a:ext cx="3648456" cy="2139696"/>
          </a:xfrm>
          <a:prstGeom prst="roundRect">
            <a:avLst>
              <a:gd name="adj" fmla="val 3419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  <a:effectLst>
            <a:outerShdw blurRad="177800" dist="508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8" name="Image 1" descr="/home/claude/Landing-Page_cr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3520440"/>
            <a:ext cx="3429000" cy="1920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55504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233672" y="3410712"/>
            <a:ext cx="3648456" cy="2139696"/>
          </a:xfrm>
          <a:prstGeom prst="roundRect">
            <a:avLst>
              <a:gd name="adj" fmla="val 3419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  <a:effectLst>
            <a:outerShdw blurRad="177800" dist="508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1" name="Image 2" descr="/home/claude/Assessment-1_cro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43400" y="3520440"/>
            <a:ext cx="3429000" cy="19202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43400" y="55504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Flow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7936992" y="3410712"/>
            <a:ext cx="3648456" cy="2139696"/>
          </a:xfrm>
          <a:prstGeom prst="roundRect">
            <a:avLst>
              <a:gd name="adj" fmla="val 3419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  <a:effectLst>
            <a:outerShdw blurRad="177800" dist="508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4" name="Image 3" descr="/home/claude/Result-1_crop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46720" y="3520440"/>
            <a:ext cx="3429000" cy="19202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046720" y="55504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Page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— DEPRESSION RISK PREDICTION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— 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Learnings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10058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limits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Near-perfect accuracy does not guarantee real-world generalization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 class underrepresented (15.3%) — monitored via precision/recall, not accuracy alone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to combine modeling, explainability, and deployment into one cohesive, usable product — not just a notebook exercise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— DEPRESSION RISK PREDICTION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943600" cy="5943600"/>
          </a:xfrm>
          <a:prstGeom prst="ellipse">
            <a:avLst/>
          </a:prstGeom>
          <a:solidFill>
            <a:srgbClr val="4F8C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4F8CF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4" name="Image 0" descr="/home/claude/icon_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" y="1013155"/>
            <a:ext cx="625450" cy="6254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874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260604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delivered: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explainable ML system — from raw data to a deployed, interactive application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scope: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on real-world clinical data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authentication &amp; secure data handling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monitoring, drift detection &amp; retraining pipeline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generation for each assessment (PDF/summary export)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deployment (containerization + CI/CD)</a:t>
            </a:r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cs typeface="Arial" pitchFamily="34" charset="-120"/>
              </a:rPr>
              <a:t>Report Generation in </a:t>
            </a:r>
            <a:r>
              <a:rPr lang="en-US" sz="1400">
                <a:solidFill>
                  <a:srgbClr val="F5F7FA"/>
                </a:solidFill>
                <a:latin typeface="Arial" pitchFamily="34" charset="0"/>
                <a:cs typeface="Arial" pitchFamily="34" charset="-120"/>
              </a:rPr>
              <a:t>PDF format.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680960" y="2697480"/>
            <a:ext cx="3749040" cy="3291840"/>
          </a:xfrm>
          <a:prstGeom prst="roundRect">
            <a:avLst>
              <a:gd name="adj" fmla="val 2778"/>
            </a:avLst>
          </a:prstGeom>
          <a:solidFill>
            <a:srgbClr val="121C31"/>
          </a:solidFill>
          <a:ln w="12700">
            <a:solidFill>
              <a:srgbClr val="2231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0" y="3017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80960" y="3520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3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281160" y="4206240"/>
            <a:ext cx="640080" cy="640080"/>
          </a:xfrm>
          <a:prstGeom prst="ellipse">
            <a:avLst/>
          </a:prstGeom>
          <a:solidFill>
            <a:srgbClr val="36C7C0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1" name="Image 1" descr="/home/claude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7970" y="4283050"/>
            <a:ext cx="486461" cy="4864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— DEPRESSION RISK PREDICTION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1452</Words>
  <Application>Microsoft Office PowerPoint</Application>
  <PresentationFormat>Widescreen</PresentationFormat>
  <Paragraphs>255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Internship Project</dc:creator>
  <cp:lastModifiedBy>Shaqeb</cp:lastModifiedBy>
  <cp:revision>2</cp:revision>
  <dcterms:created xsi:type="dcterms:W3CDTF">2026-07-30T20:46:31Z</dcterms:created>
  <dcterms:modified xsi:type="dcterms:W3CDTF">2026-07-30T20:57:28Z</dcterms:modified>
</cp:coreProperties>
</file>